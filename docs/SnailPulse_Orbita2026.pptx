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question" id="{8b84edef-da40-8ac1-8eda-61073b84aa29}">
          <p14:sldIdLst>
            <p14:sldId id="256"/>
            <p14:sldId id="257"/>
            <p14:sldId id="258"/>
            <p14:sldId id="259"/>
          </p14:sldIdLst>
        </p14:section>
        <p14:section name="How it works" id="{2477e590-888b-07e7-b127-244f3f8ee6c1}">
          <p14:sldIdLst>
            <p14:sldId id="260"/>
            <p14:sldId id="261"/>
          </p14:sldIdLst>
        </p14:section>
        <p14:section name="Status" id="{c7c2793d-d6d5-b2e9-1c4b-2d6e40ce0eae}">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Uzbekistan. Our project is SnailPulse: we fly a living garden snail to about 24 kilometres and measure its heartbeat during the whole flight, without hurting it. Our team: Diyora does the research, Begoyim the engineering, Nurmuhammad the radio, and I am Azizbek, I do the electronics and the code.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researched three biology missions: snail mucus as a healing material, earthworms to keep soil healthy for farming in space, and DNA, so bacteria can make medicines on demand. For all three we ask the same question: does it still work after the stratosphere? Mission one, the snail, is the one we fly.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snail mucus? On long missions astronauts lose 1 to 1.5 percent of their bone density every month, and any injury happens far from a hospital. Snail mucus sticks to tissue, keeps it moist and fights bacteria. In studies it boosted bone and cartilage cells, and a mucus gel healed chronic wounds in rats and mice. But all of this was tested on Earth. So our question is: does a trip to the stratosphere change the snail and its mucus?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snail flies, and one stays on the ground in the same kind of box. After landing we run the same four tests on both mucus samples: structure, stickiness, moisture, and whether it still stops bacteria. We don't assume the flight makes it better; we check what changes. And during the flight, SnailPulse records the heartbeat live, so we know what the snail went through.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SnailPulse works in four steps. An infrared sensor on the shell shines light in, and every heartbeat changes how much comes back. Our board filters the signal and makes it 101 times bigger. The flight computer reads it 50 times a second, counts the beats and saves everything to SD. Every two seconds the radio sends the heart rate and a piece of the raw signal to our ground station.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circuit. A filter removes the steady part of the signal, and the amplifier boosts only heartbeats between about 10 and 200 beats per minute. A reference voltage keeps the signal in the middle of the computer's range. It is just two chips; the organisers' flight computer does the rest.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test flight already worked: the snail survived, and we recovered the satellite. The circuit is designed and reviewed, the flight code and ground software are tested on a computer, and all parts are bought. Now we are soldering the board and testing it, first on a finger pulse, then on a snail. Here in Moscow we will run it on the flight computer, tune it on a live snail, cold-test it and fit it into the CubeSat before the launch on the 31st.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DARK">
    <p:bg>
      <p:bgPr>
        <a:solidFill>
          <a:srgbClr val="161B2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4F1E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703072"/>
            <a:ext cx="10566400" cy="635000"/>
          </a:xfrm>
          <a:prstGeom prst="rect">
            <a:avLst/>
          </a:prstGeom>
          <a:noFill/>
          <a:ln/>
        </p:spPr>
        <p:txBody>
          <a:bodyPr wrap="square" rtlCol="0"/>
          <a:lstStyle>
            <a:lvl1pPr algn="l" indent="0" marL="0">
              <a:buNone/>
              <a:defRPr lang="en-US" sz="3600" b="1" dirty="0">
                <a:solidFill>
                  <a:schemeClr val="tx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3" name="Text 0"/>
          <p:cNvSpPr/>
          <p:nvPr/>
        </p:nvSpPr>
        <p:spPr>
          <a:xfrm>
            <a:off x="812800" y="6235700"/>
            <a:ext cx="7315200" cy="215900"/>
          </a:xfrm>
          <a:prstGeom prst="rect">
            <a:avLst/>
          </a:prstGeom>
          <a:noFill/>
          <a:ln/>
        </p:spPr>
        <p:txBody>
          <a:bodyPr wrap="square" lIns="0" tIns="0" rIns="0" bIns="0" rtlCol="0" anchor="b"/>
          <a:lstStyle/>
          <a:p>
            <a:pPr indent="0" marL="0">
              <a:buNone/>
            </a:pPr>
            <a:r>
              <a:rPr lang="en-US" sz="1200" dirty="0">
                <a:solidFill>
                  <a:schemeClr val="accent5"/>
                </a:solidFill>
              </a:rPr>
              <a:t>SnailPulse · Team Uzbekistan · Orbita 2026</a:t>
            </a:r>
            <a:endParaRPr lang="en-US" sz="1200" dirty="0"/>
          </a:p>
        </p:txBody>
      </p:sp>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A7F8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_DARK">
    <p:bg>
      <p:bgPr>
        <a:solidFill>
          <a:srgbClr val="161B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703072"/>
            <a:ext cx="10566400" cy="63500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3" name="Text 0"/>
          <p:cNvSpPr/>
          <p:nvPr/>
        </p:nvSpPr>
        <p:spPr>
          <a:xfrm>
            <a:off x="812800" y="6235700"/>
            <a:ext cx="7315200" cy="215900"/>
          </a:xfrm>
          <a:prstGeom prst="rect">
            <a:avLst/>
          </a:prstGeom>
          <a:noFill/>
          <a:ln/>
        </p:spPr>
        <p:txBody>
          <a:bodyPr wrap="square" lIns="0" tIns="0" rIns="0" bIns="0" rtlCol="0" anchor="b"/>
          <a:lstStyle/>
          <a:p>
            <a:pPr indent="0" marL="0">
              <a:buNone/>
            </a:pPr>
            <a:r>
              <a:rPr lang="en-US" sz="1200" dirty="0">
                <a:solidFill>
                  <a:schemeClr val="accent4"/>
                </a:solidFill>
              </a:rPr>
              <a:t>SnailPulse · Team Uzbekistan · Orbita 2026</a:t>
            </a:r>
            <a:endParaRPr lang="en-US" sz="1200" dirty="0"/>
          </a:p>
        </p:txBody>
      </p:sp>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A9AFB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A7F8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artbeat trace" descr="A heartbeat trace">    </p:cNvPr>
          <p:cNvPicPr>
            <a:picLocks noChangeAspect="1"/>
          </p:cNvPicPr>
          <p:nvPr/>
        </p:nvPicPr>
        <p:blipFill>
          <a:blip r:embed="rId1"/>
          <a:stretch>
            <a:fillRect/>
          </a:stretch>
        </p:blipFill>
        <p:spPr>
          <a:xfrm>
            <a:off x="7112000" y="2095500"/>
            <a:ext cx="5080000" cy="1651000"/>
          </a:xfrm>
          <a:prstGeom prst="rect">
            <a:avLst/>
          </a:prstGeom>
        </p:spPr>
      </p:pic>
      <p:sp>
        <p:nvSpPr>
          <p:cNvPr id="3" name="Text 0"/>
          <p:cNvSpPr txBox="1"/>
          <p:nvPr/>
        </p:nvSpPr>
        <p:spPr>
          <a:xfrm>
            <a:off x="812800" y="812800"/>
            <a:ext cx="9144000" cy="36576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Team Uzbekistan · International Space Tournament Orbita 2026</a:t>
            </a:r>
            <a:endParaRPr lang="en-US" sz="1400" dirty="0"/>
          </a:p>
        </p:txBody>
      </p:sp>
      <p:sp>
        <p:nvSpPr>
          <p:cNvPr id="4" name="Title"/>
          <p:cNvSpPr txBox="1"/>
          <p:nvPr/>
        </p:nvSpPr>
        <p:spPr>
          <a:xfrm>
            <a:off x="812800" y="2095500"/>
            <a:ext cx="6583680" cy="1188720"/>
          </a:xfrm>
          <a:prstGeom prst="rect">
            <a:avLst/>
          </a:prstGeom>
          <a:noFill/>
          <a:ln/>
        </p:spPr>
        <p:txBody>
          <a:bodyPr wrap="square" lIns="0" tIns="0" rIns="0" bIns="0" rtlCol="0" anchor="t"/>
          <a:lstStyle/>
          <a:p>
            <a:pPr indent="0" marL="0">
              <a:buNone/>
            </a:pPr>
            <a:r>
              <a:rPr lang="en-US" sz="8000" b="1" spc="-150" kern="0" dirty="0">
                <a:solidFill>
                  <a:srgbClr val="EDEAE3"/>
                </a:solidFill>
                <a:latin typeface="Arial" pitchFamily="34" charset="0"/>
                <a:ea typeface="Arial" pitchFamily="34" charset="-122"/>
                <a:cs typeface="Arial" pitchFamily="34" charset="-120"/>
              </a:rPr>
              <a:t>SnailPulse</a:t>
            </a:r>
            <a:endParaRPr lang="en-US" sz="8000" dirty="0"/>
          </a:p>
        </p:txBody>
      </p:sp>
      <p:sp>
        <p:nvSpPr>
          <p:cNvPr id="5" name="Text 2"/>
          <p:cNvSpPr txBox="1"/>
          <p:nvPr/>
        </p:nvSpPr>
        <p:spPr>
          <a:xfrm>
            <a:off x="812800" y="3365500"/>
            <a:ext cx="5852160" cy="914400"/>
          </a:xfrm>
          <a:prstGeom prst="rect">
            <a:avLst/>
          </a:prstGeom>
          <a:noFill/>
          <a:ln/>
        </p:spPr>
        <p:txBody>
          <a:bodyPr wrap="square" lIns="0" tIns="0" rIns="0" bIns="0" rtlCol="0" anchor="t"/>
          <a:lstStyle/>
          <a:p>
            <a:pPr indent="0" marL="0">
              <a:lnSpc>
                <a:spcPct val="115000"/>
              </a:lnSpc>
              <a:buNone/>
            </a:pPr>
            <a:r>
              <a:rPr lang="en-US" sz="2200" dirty="0">
                <a:solidFill>
                  <a:srgbClr val="EDEAE3"/>
                </a:solidFill>
                <a:latin typeface="Arial" pitchFamily="34" charset="0"/>
                <a:ea typeface="Arial" pitchFamily="34" charset="-122"/>
                <a:cs typeface="Arial" pitchFamily="34" charset="-120"/>
              </a:rPr>
              <a:t>A living snail’s heartbeat, measured on the way to 24 km</a:t>
            </a:r>
            <a:endParaRPr lang="en-US" sz="2200" dirty="0"/>
          </a:p>
        </p:txBody>
      </p:sp>
      <p:sp>
        <p:nvSpPr>
          <p:cNvPr id="6" name="Text 3"/>
          <p:cNvSpPr txBox="1"/>
          <p:nvPr/>
        </p:nvSpPr>
        <p:spPr>
          <a:xfrm>
            <a:off x="812800" y="5600700"/>
            <a:ext cx="2057400" cy="5029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Diyora Mirpulatova</a:t>
            </a:r>
            <a:endParaRPr lang="en-US" sz="1300" dirty="0"/>
          </a:p>
          <a:p>
            <a:pPr indent="0" marL="0">
              <a:buNone/>
            </a:pPr>
            <a:r>
              <a:rPr lang="en-US" sz="1200" dirty="0">
                <a:solidFill>
                  <a:schemeClr val="accent4"/>
                </a:solidFill>
                <a:latin typeface="Arial" pitchFamily="34" charset="0"/>
                <a:ea typeface="Arial" pitchFamily="34" charset="-122"/>
                <a:cs typeface="Arial" pitchFamily="34" charset="-120"/>
              </a:rPr>
              <a:t>Research</a:t>
            </a:r>
            <a:endParaRPr lang="en-US" sz="1300" dirty="0"/>
          </a:p>
        </p:txBody>
      </p:sp>
      <p:sp>
        <p:nvSpPr>
          <p:cNvPr id="7" name="Text 4"/>
          <p:cNvSpPr txBox="1"/>
          <p:nvPr/>
        </p:nvSpPr>
        <p:spPr>
          <a:xfrm>
            <a:off x="2934208" y="5600700"/>
            <a:ext cx="2057400" cy="5029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Begoyim Yarashova</a:t>
            </a:r>
            <a:endParaRPr lang="en-US" sz="1300" dirty="0"/>
          </a:p>
          <a:p>
            <a:pPr indent="0" marL="0">
              <a:buNone/>
            </a:pPr>
            <a:r>
              <a:rPr lang="en-US" sz="1200" dirty="0">
                <a:solidFill>
                  <a:schemeClr val="accent4"/>
                </a:solidFill>
                <a:latin typeface="Arial" pitchFamily="34" charset="0"/>
                <a:ea typeface="Arial" pitchFamily="34" charset="-122"/>
                <a:cs typeface="Arial" pitchFamily="34" charset="-120"/>
              </a:rPr>
              <a:t>Engineering</a:t>
            </a:r>
            <a:endParaRPr lang="en-US" sz="1300" dirty="0"/>
          </a:p>
        </p:txBody>
      </p:sp>
      <p:sp>
        <p:nvSpPr>
          <p:cNvPr id="8" name="Text 5"/>
          <p:cNvSpPr txBox="1"/>
          <p:nvPr/>
        </p:nvSpPr>
        <p:spPr>
          <a:xfrm>
            <a:off x="5055616" y="5600700"/>
            <a:ext cx="2057400" cy="5029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Nurmuhammad Buriev</a:t>
            </a:r>
            <a:endParaRPr lang="en-US" sz="1300" dirty="0"/>
          </a:p>
          <a:p>
            <a:pPr indent="0" marL="0">
              <a:buNone/>
            </a:pPr>
            <a:r>
              <a:rPr lang="en-US" sz="1200" dirty="0">
                <a:solidFill>
                  <a:schemeClr val="accent4"/>
                </a:solidFill>
                <a:latin typeface="Arial" pitchFamily="34" charset="0"/>
                <a:ea typeface="Arial" pitchFamily="34" charset="-122"/>
                <a:cs typeface="Arial" pitchFamily="34" charset="-120"/>
              </a:rPr>
              <a:t>Radio</a:t>
            </a:r>
            <a:endParaRPr lang="en-US" sz="1300" dirty="0"/>
          </a:p>
        </p:txBody>
      </p:sp>
      <p:sp>
        <p:nvSpPr>
          <p:cNvPr id="9" name="Text 6"/>
          <p:cNvSpPr txBox="1"/>
          <p:nvPr/>
        </p:nvSpPr>
        <p:spPr>
          <a:xfrm>
            <a:off x="7177024" y="5600700"/>
            <a:ext cx="2057400" cy="5029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Azizbek No’monjonov</a:t>
            </a:r>
            <a:endParaRPr lang="en-US" sz="1300" dirty="0"/>
          </a:p>
          <a:p>
            <a:pPr indent="0" marL="0">
              <a:buNone/>
            </a:pPr>
            <a:r>
              <a:rPr lang="en-US" sz="1200" dirty="0">
                <a:solidFill>
                  <a:schemeClr val="accent4"/>
                </a:solidFill>
                <a:latin typeface="Arial" pitchFamily="34" charset="0"/>
                <a:ea typeface="Arial" pitchFamily="34" charset="-122"/>
                <a:cs typeface="Arial" pitchFamily="34" charset="-120"/>
              </a:rPr>
              <a:t>Electronics and code</a:t>
            </a:r>
            <a:endParaRPr lang="en-US" sz="1300" dirty="0"/>
          </a:p>
        </p:txBody>
      </p:sp>
      <p:sp>
        <p:nvSpPr>
          <p:cNvPr id="10" name="Text 7"/>
          <p:cNvSpPr txBox="1"/>
          <p:nvPr/>
        </p:nvSpPr>
        <p:spPr>
          <a:xfrm>
            <a:off x="9298432" y="5600700"/>
            <a:ext cx="2057400" cy="5029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Ezoza Yuldosheva</a:t>
            </a:r>
            <a:endParaRPr lang="en-US" sz="1300" dirty="0"/>
          </a:p>
          <a:p>
            <a:pPr indent="0" marL="0">
              <a:buNone/>
            </a:pPr>
            <a:r>
              <a:rPr lang="en-US" sz="1200" dirty="0">
                <a:solidFill>
                  <a:schemeClr val="accent4"/>
                </a:solidFill>
                <a:latin typeface="Arial" pitchFamily="34" charset="0"/>
                <a:ea typeface="Arial" pitchFamily="34" charset="-122"/>
                <a:cs typeface="Arial" pitchFamily="34" charset="-120"/>
              </a:rPr>
              <a:t>Mentor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12800" y="703072"/>
            <a:ext cx="10566400" cy="63500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Our three biology missions</a:t>
            </a:r>
            <a:endParaRPr lang="en-US" sz="3600" dirty="0"/>
          </a:p>
        </p:txBody>
      </p:sp>
      <p:sp>
        <p:nvSpPr>
          <p:cNvPr id="3" name="Mission 1"/>
          <p:cNvSpPr/>
          <p:nvPr/>
        </p:nvSpPr>
        <p:spPr>
          <a:xfrm>
            <a:off x="812800" y="1587500"/>
            <a:ext cx="3386667" cy="3556000"/>
          </a:xfrm>
          <a:prstGeom prst="roundRect">
            <a:avLst>
              <a:gd name="adj" fmla="val 2160"/>
            </a:avLst>
          </a:prstGeom>
          <a:solidFill>
            <a:schemeClr val="accent6"/>
          </a:solidFill>
          <a:ln/>
        </p:spPr>
      </p:sp>
      <p:sp>
        <p:nvSpPr>
          <p:cNvPr id="4" name="Text 2"/>
          <p:cNvSpPr txBox="1"/>
          <p:nvPr/>
        </p:nvSpPr>
        <p:spPr>
          <a:xfrm>
            <a:off x="1066800" y="1841500"/>
            <a:ext cx="2878667" cy="274320"/>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 · Flies with SnailPulse</a:t>
            </a:r>
            <a:endParaRPr lang="en-US" sz="1400" dirty="0"/>
          </a:p>
        </p:txBody>
      </p:sp>
      <p:sp>
        <p:nvSpPr>
          <p:cNvPr id="5" name="Text 3"/>
          <p:cNvSpPr txBox="1"/>
          <p:nvPr/>
        </p:nvSpPr>
        <p:spPr>
          <a:xfrm>
            <a:off x="1066800" y="2190750"/>
            <a:ext cx="2878667"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Snail mucus</a:t>
            </a:r>
            <a:endParaRPr lang="en-US" sz="2400" dirty="0"/>
          </a:p>
        </p:txBody>
      </p:sp>
      <p:sp>
        <p:nvSpPr>
          <p:cNvPr id="6" name="Text 4"/>
          <p:cNvSpPr txBox="1"/>
          <p:nvPr/>
        </p:nvSpPr>
        <p:spPr>
          <a:xfrm>
            <a:off x="1066800" y="2667000"/>
            <a:ext cx="2878667" cy="731520"/>
          </a:xfrm>
          <a:prstGeom prst="rect">
            <a:avLst/>
          </a:prstGeom>
          <a:noFill/>
          <a:ln/>
        </p:spPr>
        <p:txBody>
          <a:bodyPr wrap="square" lIns="0" tIns="0" rIns="0" bIns="0" rtlCol="0" anchor="t"/>
          <a:lstStyle/>
          <a:p>
            <a:pPr indent="0" marL="0">
              <a:lnSpc>
                <a:spcPct val="115000"/>
              </a:lnSpc>
              <a:buNone/>
            </a:pPr>
            <a:r>
              <a:rPr lang="en-US" sz="1500" dirty="0">
                <a:solidFill>
                  <a:schemeClr val="tx1"/>
                </a:solidFill>
                <a:latin typeface="Arial" pitchFamily="34" charset="0"/>
                <a:ea typeface="Arial" pitchFamily="34" charset="-122"/>
                <a:cs typeface="Arial" pitchFamily="34" charset="-120"/>
              </a:rPr>
              <a:t>A healing material for bone, cartilage and wounds</a:t>
            </a:r>
            <a:endParaRPr lang="en-US" sz="1500" dirty="0"/>
          </a:p>
        </p:txBody>
      </p:sp>
      <p:sp>
        <p:nvSpPr>
          <p:cNvPr id="7" name="Text 5"/>
          <p:cNvSpPr txBox="1"/>
          <p:nvPr/>
        </p:nvSpPr>
        <p:spPr>
          <a:xfrm>
            <a:off x="1066800" y="4191000"/>
            <a:ext cx="2878667" cy="685800"/>
          </a:xfrm>
          <a:prstGeom prst="rect">
            <a:avLst/>
          </a:prstGeom>
          <a:noFill/>
          <a:ln/>
        </p:spPr>
        <p:txBody>
          <a:bodyPr wrap="square" lIns="0" tIns="0" rIns="0" bIns="0" rtlCol="0" anchor="b"/>
          <a:lstStyle/>
          <a:p>
            <a:pPr indent="0" marL="0">
              <a:lnSpc>
                <a:spcPct val="115000"/>
              </a:lnSpc>
              <a:buNone/>
            </a:pPr>
            <a:r>
              <a:rPr lang="en-US" sz="1300" dirty="0">
                <a:solidFill>
                  <a:schemeClr val="accent3"/>
                </a:solidFill>
                <a:latin typeface="Arial" pitchFamily="34" charset="0"/>
                <a:ea typeface="Arial" pitchFamily="34" charset="-122"/>
                <a:cs typeface="Arial" pitchFamily="34" charset="-120"/>
              </a:rPr>
              <a:t>A snail-mucus gel healed chronic wounds in rats and mice after one application.</a:t>
            </a:r>
            <a:endParaRPr lang="en-US" sz="1300" dirty="0"/>
          </a:p>
        </p:txBody>
      </p:sp>
      <p:sp>
        <p:nvSpPr>
          <p:cNvPr id="8" name="Mission 2"/>
          <p:cNvSpPr/>
          <p:nvPr/>
        </p:nvSpPr>
        <p:spPr>
          <a:xfrm>
            <a:off x="4402667" y="1587500"/>
            <a:ext cx="3386667" cy="3556000"/>
          </a:xfrm>
          <a:prstGeom prst="roundRect">
            <a:avLst>
              <a:gd name="adj" fmla="val 2160"/>
            </a:avLst>
          </a:prstGeom>
          <a:solidFill>
            <a:schemeClr val="bg2"/>
          </a:solidFill>
          <a:ln/>
        </p:spPr>
      </p:sp>
      <p:sp>
        <p:nvSpPr>
          <p:cNvPr id="9" name="Text 7"/>
          <p:cNvSpPr txBox="1"/>
          <p:nvPr/>
        </p:nvSpPr>
        <p:spPr>
          <a:xfrm>
            <a:off x="4656667" y="1841500"/>
            <a:ext cx="2878667" cy="274320"/>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4656667" y="2190750"/>
            <a:ext cx="2878667"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Earthworms</a:t>
            </a:r>
            <a:endParaRPr lang="en-US" sz="2400" dirty="0"/>
          </a:p>
        </p:txBody>
      </p:sp>
      <p:sp>
        <p:nvSpPr>
          <p:cNvPr id="11" name="Text 9"/>
          <p:cNvSpPr txBox="1"/>
          <p:nvPr/>
        </p:nvSpPr>
        <p:spPr>
          <a:xfrm>
            <a:off x="4656667" y="2667000"/>
            <a:ext cx="2878667" cy="731520"/>
          </a:xfrm>
          <a:prstGeom prst="rect">
            <a:avLst/>
          </a:prstGeom>
          <a:noFill/>
          <a:ln/>
        </p:spPr>
        <p:txBody>
          <a:bodyPr wrap="square" lIns="0" tIns="0" rIns="0" bIns="0" rtlCol="0" anchor="t"/>
          <a:lstStyle/>
          <a:p>
            <a:pPr indent="0" marL="0">
              <a:lnSpc>
                <a:spcPct val="115000"/>
              </a:lnSpc>
              <a:buNone/>
            </a:pPr>
            <a:r>
              <a:rPr lang="en-US" sz="1500" dirty="0">
                <a:solidFill>
                  <a:schemeClr val="tx1"/>
                </a:solidFill>
                <a:latin typeface="Arial" pitchFamily="34" charset="0"/>
                <a:ea typeface="Arial" pitchFamily="34" charset="-122"/>
                <a:cs typeface="Arial" pitchFamily="34" charset="-120"/>
              </a:rPr>
              <a:t>Living tools that keep soil healthy for farming in space</a:t>
            </a:r>
            <a:endParaRPr lang="en-US" sz="1500" dirty="0"/>
          </a:p>
        </p:txBody>
      </p:sp>
      <p:sp>
        <p:nvSpPr>
          <p:cNvPr id="12" name="Text 10"/>
          <p:cNvSpPr txBox="1"/>
          <p:nvPr/>
        </p:nvSpPr>
        <p:spPr>
          <a:xfrm>
            <a:off x="4656667" y="4191000"/>
            <a:ext cx="2878667" cy="685800"/>
          </a:xfrm>
          <a:prstGeom prst="rect">
            <a:avLst/>
          </a:prstGeom>
          <a:noFill/>
          <a:ln/>
        </p:spPr>
        <p:txBody>
          <a:bodyPr wrap="square" lIns="0" tIns="0" rIns="0" bIns="0" rtlCol="0" anchor="b"/>
          <a:lstStyle/>
          <a:p>
            <a:pPr indent="0" marL="0">
              <a:lnSpc>
                <a:spcPct val="115000"/>
              </a:lnSpc>
              <a:buNone/>
            </a:pPr>
            <a:r>
              <a:rPr lang="en-US" sz="1300" dirty="0">
                <a:solidFill>
                  <a:schemeClr val="accent3"/>
                </a:solidFill>
                <a:latin typeface="Arial" pitchFamily="34" charset="0"/>
                <a:ea typeface="Arial" pitchFamily="34" charset="-122"/>
                <a:cs typeface="Arial" pitchFamily="34" charset="-120"/>
              </a:rPr>
              <a:t>Worms raise plant growth by 23% and plant phosphorus uptake by 21%.</a:t>
            </a:r>
            <a:endParaRPr lang="en-US" sz="1300" dirty="0"/>
          </a:p>
        </p:txBody>
      </p:sp>
      <p:sp>
        <p:nvSpPr>
          <p:cNvPr id="13" name="Mission 3"/>
          <p:cNvSpPr/>
          <p:nvPr/>
        </p:nvSpPr>
        <p:spPr>
          <a:xfrm>
            <a:off x="7992533" y="1587500"/>
            <a:ext cx="3386667" cy="3556000"/>
          </a:xfrm>
          <a:prstGeom prst="roundRect">
            <a:avLst>
              <a:gd name="adj" fmla="val 2160"/>
            </a:avLst>
          </a:prstGeom>
          <a:solidFill>
            <a:schemeClr val="bg2"/>
          </a:solidFill>
          <a:ln/>
        </p:spPr>
      </p:sp>
      <p:sp>
        <p:nvSpPr>
          <p:cNvPr id="14" name="Text 12"/>
          <p:cNvSpPr txBox="1"/>
          <p:nvPr/>
        </p:nvSpPr>
        <p:spPr>
          <a:xfrm>
            <a:off x="8246533" y="1841500"/>
            <a:ext cx="2878667" cy="274320"/>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8246533" y="2190750"/>
            <a:ext cx="2878667"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DNA</a:t>
            </a:r>
            <a:endParaRPr lang="en-US" sz="2400" dirty="0"/>
          </a:p>
        </p:txBody>
      </p:sp>
      <p:sp>
        <p:nvSpPr>
          <p:cNvPr id="16" name="Text 14"/>
          <p:cNvSpPr txBox="1"/>
          <p:nvPr/>
        </p:nvSpPr>
        <p:spPr>
          <a:xfrm>
            <a:off x="8246533" y="2667000"/>
            <a:ext cx="2878667" cy="731520"/>
          </a:xfrm>
          <a:prstGeom prst="rect">
            <a:avLst/>
          </a:prstGeom>
          <a:noFill/>
          <a:ln/>
        </p:spPr>
        <p:txBody>
          <a:bodyPr wrap="square" lIns="0" tIns="0" rIns="0" bIns="0" rtlCol="0" anchor="t"/>
          <a:lstStyle/>
          <a:p>
            <a:pPr indent="0" marL="0">
              <a:lnSpc>
                <a:spcPct val="115000"/>
              </a:lnSpc>
              <a:buNone/>
            </a:pPr>
            <a:r>
              <a:rPr lang="en-US" sz="1500" dirty="0">
                <a:solidFill>
                  <a:schemeClr val="tx1"/>
                </a:solidFill>
                <a:latin typeface="Arial" pitchFamily="34" charset="0"/>
                <a:ea typeface="Arial" pitchFamily="34" charset="-122"/>
                <a:cs typeface="Arial" pitchFamily="34" charset="-120"/>
              </a:rPr>
              <a:t>Ship the recipe, not the medicine: bacteria make it on demand</a:t>
            </a:r>
            <a:endParaRPr lang="en-US" sz="1500" dirty="0"/>
          </a:p>
        </p:txBody>
      </p:sp>
      <p:sp>
        <p:nvSpPr>
          <p:cNvPr id="17" name="Text 15"/>
          <p:cNvSpPr txBox="1"/>
          <p:nvPr/>
        </p:nvSpPr>
        <p:spPr>
          <a:xfrm>
            <a:off x="8246533" y="4191000"/>
            <a:ext cx="2878667" cy="685800"/>
          </a:xfrm>
          <a:prstGeom prst="rect">
            <a:avLst/>
          </a:prstGeom>
          <a:noFill/>
          <a:ln/>
        </p:spPr>
        <p:txBody>
          <a:bodyPr wrap="square" lIns="0" tIns="0" rIns="0" bIns="0" rtlCol="0" anchor="b"/>
          <a:lstStyle/>
          <a:p>
            <a:pPr indent="0" marL="0">
              <a:lnSpc>
                <a:spcPct val="115000"/>
              </a:lnSpc>
              <a:buNone/>
            </a:pPr>
            <a:r>
              <a:rPr lang="en-US" sz="1300" dirty="0">
                <a:solidFill>
                  <a:schemeClr val="accent3"/>
                </a:solidFill>
                <a:latin typeface="Arial" pitchFamily="34" charset="0"/>
                <a:ea typeface="Arial" pitchFamily="34" charset="-122"/>
                <a:cs typeface="Arial" pitchFamily="34" charset="-120"/>
              </a:rPr>
              <a:t>Bacteria have made human insulin from added DNA since 1982.</a:t>
            </a:r>
            <a:endParaRPr lang="en-US" sz="1300" dirty="0"/>
          </a:p>
        </p:txBody>
      </p:sp>
      <p:sp>
        <p:nvSpPr>
          <p:cNvPr id="18" name="Text 16"/>
          <p:cNvSpPr txBox="1"/>
          <p:nvPr/>
        </p:nvSpPr>
        <p:spPr>
          <a:xfrm>
            <a:off x="812800" y="5397500"/>
            <a:ext cx="10566400" cy="32004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One question for all three: does it still work after the stratosphere?</a:t>
            </a:r>
            <a:endParaRPr lang="en-US" sz="1400" dirty="0"/>
          </a:p>
        </p:txBody>
      </p:sp>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A7F8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2800" y="703072"/>
            <a:ext cx="10566400" cy="63500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Why snail mucus</a:t>
            </a:r>
            <a:endParaRPr lang="en-US" sz="3600" dirty="0"/>
          </a:p>
        </p:txBody>
      </p:sp>
      <p:sp>
        <p:nvSpPr>
          <p:cNvPr id="3" name="Text 1"/>
          <p:cNvSpPr txBox="1"/>
          <p:nvPr/>
        </p:nvSpPr>
        <p:spPr>
          <a:xfrm>
            <a:off x="812800" y="1714500"/>
            <a:ext cx="3556000" cy="914400"/>
          </a:xfrm>
          <a:prstGeom prst="rect">
            <a:avLst/>
          </a:prstGeom>
          <a:noFill/>
          <a:ln/>
        </p:spPr>
        <p:txBody>
          <a:bodyPr wrap="square" lIns="0" tIns="0" rIns="0" bIns="0" rtlCol="0" anchor="t"/>
          <a:lstStyle/>
          <a:p>
            <a:pPr indent="0" marL="0">
              <a:buNone/>
            </a:pPr>
            <a:r>
              <a:rPr lang="en-US" sz="6000" b="1" dirty="0">
                <a:solidFill>
                  <a:schemeClr val="accent1"/>
                </a:solidFill>
                <a:latin typeface="Arial" pitchFamily="34" charset="0"/>
                <a:ea typeface="Arial" pitchFamily="34" charset="-122"/>
                <a:cs typeface="Arial" pitchFamily="34" charset="-120"/>
              </a:rPr>
              <a:t>1–1.5%</a:t>
            </a:r>
            <a:endParaRPr lang="en-US" sz="6000" dirty="0"/>
          </a:p>
        </p:txBody>
      </p:sp>
      <p:sp>
        <p:nvSpPr>
          <p:cNvPr id="4" name="Text 2"/>
          <p:cNvSpPr txBox="1"/>
          <p:nvPr/>
        </p:nvSpPr>
        <p:spPr>
          <a:xfrm>
            <a:off x="812800" y="2667000"/>
            <a:ext cx="3556000" cy="731520"/>
          </a:xfrm>
          <a:prstGeom prst="rect">
            <a:avLst/>
          </a:prstGeom>
          <a:noFill/>
          <a:ln/>
        </p:spPr>
        <p:txBody>
          <a:bodyPr wrap="square" lIns="0" tIns="0" rIns="0" bIns="0" rtlCol="0" anchor="t"/>
          <a:lstStyle/>
          <a:p>
            <a:pPr indent="0" marL="0">
              <a:lnSpc>
                <a:spcPct val="115000"/>
              </a:lnSpc>
              <a:buNone/>
            </a:pPr>
            <a:r>
              <a:rPr lang="en-US" sz="1600" dirty="0">
                <a:solidFill>
                  <a:schemeClr val="tx1"/>
                </a:solidFill>
                <a:latin typeface="Arial" pitchFamily="34" charset="0"/>
                <a:ea typeface="Arial" pitchFamily="34" charset="-122"/>
                <a:cs typeface="Arial" pitchFamily="34" charset="-120"/>
              </a:rPr>
              <a:t>of bone density lost every month by astronauts on long missions (NASA)</a:t>
            </a:r>
            <a:endParaRPr lang="en-US" sz="1600" dirty="0"/>
          </a:p>
        </p:txBody>
      </p:sp>
      <p:sp>
        <p:nvSpPr>
          <p:cNvPr id="5" name="Text 3"/>
          <p:cNvSpPr txBox="1"/>
          <p:nvPr/>
        </p:nvSpPr>
        <p:spPr>
          <a:xfrm>
            <a:off x="812800" y="3556000"/>
            <a:ext cx="3556000" cy="4572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And any injury happens far from a hospital.</a:t>
            </a:r>
            <a:endParaRPr lang="en-US" sz="1400" dirty="0"/>
          </a:p>
        </p:txBody>
      </p:sp>
      <p:sp>
        <p:nvSpPr>
          <p:cNvPr id="6" name="Text 4"/>
          <p:cNvSpPr txBox="1"/>
          <p:nvPr/>
        </p:nvSpPr>
        <p:spPr>
          <a:xfrm>
            <a:off x="4978400" y="1714500"/>
            <a:ext cx="640080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What studies on Earth show</a:t>
            </a:r>
            <a:endParaRPr lang="en-US" sz="1600" dirty="0"/>
          </a:p>
        </p:txBody>
      </p:sp>
      <p:sp>
        <p:nvSpPr>
          <p:cNvPr id="7" name="Divider 1"/>
          <p:cNvSpPr/>
          <p:nvPr/>
        </p:nvSpPr>
        <p:spPr>
          <a:xfrm>
            <a:off x="4978400" y="2222500"/>
            <a:ext cx="6400800" cy="9144"/>
          </a:xfrm>
          <a:prstGeom prst="rect">
            <a:avLst/>
          </a:prstGeom>
          <a:solidFill>
            <a:srgbClr val="D5CFC2"/>
          </a:solidFill>
          <a:ln/>
        </p:spPr>
      </p:sp>
      <p:sp>
        <p:nvSpPr>
          <p:cNvPr id="8" name="Text 6"/>
          <p:cNvSpPr txBox="1"/>
          <p:nvPr/>
        </p:nvSpPr>
        <p:spPr>
          <a:xfrm>
            <a:off x="4978400" y="2349500"/>
            <a:ext cx="6400800" cy="889000"/>
          </a:xfrm>
          <a:prstGeom prst="rect">
            <a:avLst/>
          </a:prstGeom>
          <a:noFill/>
          <a:ln/>
        </p:spPr>
        <p:txBody>
          <a:bodyPr wrap="square" lIns="0" tIns="0" rIns="0" bIns="0" rtlCol="0" anchor="t"/>
          <a:lstStyle/>
          <a:p>
            <a:pPr indent="0" marL="0">
              <a:lnSpc>
                <a:spcPct val="115000"/>
              </a:lnSpc>
              <a:spcAft>
                <a:spcPts val="400"/>
              </a:spcAft>
              <a:buNone/>
            </a:pPr>
            <a:r>
              <a:rPr lang="en-US" sz="1400" dirty="0">
                <a:solidFill>
                  <a:schemeClr val="tx1"/>
                </a:solidFill>
                <a:latin typeface="Arial" pitchFamily="34" charset="0"/>
                <a:ea typeface="Arial" pitchFamily="34" charset="-122"/>
                <a:cs typeface="Arial" pitchFamily="34" charset="-120"/>
              </a:rPr>
              <a:t>In chitosan scaffolds, mucus boosted bone and cartilage cell activity and fought bacteria.</a:t>
            </a:r>
            <a:endParaRPr lang="en-US" sz="1400" dirty="0"/>
          </a:p>
          <a:p>
            <a:pPr indent="0" marL="0">
              <a:lnSpc>
                <a:spcPct val="115000"/>
              </a:lnSpc>
              <a:spcAft>
                <a:spcPts val="400"/>
              </a:spcAft>
              <a:buNone/>
            </a:pPr>
            <a:r>
              <a:rPr lang="en-US" sz="1200" dirty="0">
                <a:solidFill>
                  <a:schemeClr val="accent5"/>
                </a:solidFill>
                <a:latin typeface="Arial" pitchFamily="34" charset="0"/>
                <a:ea typeface="Arial" pitchFamily="34" charset="-122"/>
                <a:cs typeface="Arial" pitchFamily="34" charset="-120"/>
              </a:rPr>
              <a:t>Perpelek et al., 2021</a:t>
            </a:r>
            <a:endParaRPr lang="en-US" sz="1400" dirty="0"/>
          </a:p>
        </p:txBody>
      </p:sp>
      <p:sp>
        <p:nvSpPr>
          <p:cNvPr id="9" name="Divider 2"/>
          <p:cNvSpPr/>
          <p:nvPr/>
        </p:nvSpPr>
        <p:spPr>
          <a:xfrm>
            <a:off x="4978400" y="3302000"/>
            <a:ext cx="6400800" cy="9144"/>
          </a:xfrm>
          <a:prstGeom prst="rect">
            <a:avLst/>
          </a:prstGeom>
          <a:solidFill>
            <a:srgbClr val="D5CFC2"/>
          </a:solidFill>
          <a:ln/>
        </p:spPr>
      </p:sp>
      <p:sp>
        <p:nvSpPr>
          <p:cNvPr id="10" name="Text 8"/>
          <p:cNvSpPr txBox="1"/>
          <p:nvPr/>
        </p:nvSpPr>
        <p:spPr>
          <a:xfrm>
            <a:off x="4978400" y="3429000"/>
            <a:ext cx="6400800" cy="889000"/>
          </a:xfrm>
          <a:prstGeom prst="rect">
            <a:avLst/>
          </a:prstGeom>
          <a:noFill/>
          <a:ln/>
        </p:spPr>
        <p:txBody>
          <a:bodyPr wrap="square" lIns="0" tIns="0" rIns="0" bIns="0" rtlCol="0" anchor="t"/>
          <a:lstStyle/>
          <a:p>
            <a:pPr indent="0" marL="0">
              <a:lnSpc>
                <a:spcPct val="115000"/>
              </a:lnSpc>
              <a:spcAft>
                <a:spcPts val="400"/>
              </a:spcAft>
              <a:buNone/>
            </a:pPr>
            <a:r>
              <a:rPr lang="en-US" sz="1400" dirty="0">
                <a:solidFill>
                  <a:schemeClr val="tx1"/>
                </a:solidFill>
                <a:latin typeface="Arial" pitchFamily="34" charset="0"/>
                <a:ea typeface="Arial" pitchFamily="34" charset="-122"/>
                <a:cs typeface="Arial" pitchFamily="34" charset="-120"/>
              </a:rPr>
              <a:t>A snail-mucus gel moved chronic diabetic wounds from inflammation into repair.</a:t>
            </a:r>
            <a:endParaRPr lang="en-US" sz="1400" dirty="0"/>
          </a:p>
          <a:p>
            <a:pPr indent="0" marL="0">
              <a:lnSpc>
                <a:spcPct val="115000"/>
              </a:lnSpc>
              <a:spcAft>
                <a:spcPts val="400"/>
              </a:spcAft>
              <a:buNone/>
            </a:pPr>
            <a:r>
              <a:rPr lang="en-US" sz="1200" dirty="0">
                <a:solidFill>
                  <a:schemeClr val="accent5"/>
                </a:solidFill>
                <a:latin typeface="Arial" pitchFamily="34" charset="0"/>
                <a:ea typeface="Arial" pitchFamily="34" charset="-122"/>
                <a:cs typeface="Arial" pitchFamily="34" charset="-120"/>
              </a:rPr>
              <a:t>Zhou et al., 2023</a:t>
            </a:r>
            <a:endParaRPr lang="en-US" sz="1400" dirty="0"/>
          </a:p>
        </p:txBody>
      </p:sp>
      <p:sp>
        <p:nvSpPr>
          <p:cNvPr id="11" name="Text 9"/>
          <p:cNvSpPr txBox="1"/>
          <p:nvPr/>
        </p:nvSpPr>
        <p:spPr>
          <a:xfrm>
            <a:off x="812800" y="5207000"/>
            <a:ext cx="105664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Does a trip to the stratosphere change the snail and its mucus?</a:t>
            </a:r>
            <a:endParaRPr lang="en-US" sz="2200" dirty="0"/>
          </a:p>
        </p:txBody>
      </p:sp>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A7F8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800" y="703072"/>
            <a:ext cx="10566400" cy="63500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How we test it</a:t>
            </a:r>
            <a:endParaRPr lang="en-US" sz="3600" dirty="0"/>
          </a:p>
        </p:txBody>
      </p:sp>
      <p:sp>
        <p:nvSpPr>
          <p:cNvPr id="3" name="Flight snail"/>
          <p:cNvSpPr/>
          <p:nvPr/>
        </p:nvSpPr>
        <p:spPr>
          <a:xfrm>
            <a:off x="812800" y="1651000"/>
            <a:ext cx="2794000" cy="698500"/>
          </a:xfrm>
          <a:prstGeom prst="roundRect">
            <a:avLst>
              <a:gd name="adj" fmla="val 10473"/>
            </a:avLst>
          </a:prstGeom>
          <a:solidFill>
            <a:schemeClr val="accent6"/>
          </a:solidFill>
          <a:ln/>
        </p:spPr>
      </p:sp>
      <p:sp>
        <p:nvSpPr>
          <p:cNvPr id="4" name="Text 2"/>
          <p:cNvSpPr txBox="1"/>
          <p:nvPr/>
        </p:nvSpPr>
        <p:spPr>
          <a:xfrm>
            <a:off x="1016000" y="1651000"/>
            <a:ext cx="2387600" cy="698500"/>
          </a:xfrm>
          <a:prstGeom prst="rect">
            <a:avLst/>
          </a:prstGeom>
          <a:noFill/>
          <a:ln/>
        </p:spPr>
        <p:txBody>
          <a:bodyPr wrap="square" lIns="0" tIns="0" rIns="0" bIns="0" rtlCol="0" anchor="ctr"/>
          <a:lstStyle/>
          <a:p>
            <a:pPr indent="0" marL="0">
              <a:lnSpc>
                <a:spcPct val="110000"/>
              </a:lnSpc>
              <a:buNone/>
            </a:pPr>
            <a:r>
              <a:rPr lang="en-US" sz="1400" b="1" dirty="0">
                <a:solidFill>
                  <a:schemeClr val="tx1"/>
                </a:solidFill>
                <a:latin typeface="Arial" pitchFamily="34" charset="0"/>
                <a:ea typeface="Arial" pitchFamily="34" charset="-122"/>
                <a:cs typeface="Arial" pitchFamily="34" charset="-120"/>
              </a:rPr>
              <a:t>Flight snail</a:t>
            </a:r>
            <a:endParaRPr lang="en-US" sz="1400" dirty="0"/>
          </a:p>
          <a:p>
            <a:pPr indent="0" marL="0">
              <a:lnSpc>
                <a:spcPct val="110000"/>
              </a:lnSpc>
              <a:buNone/>
            </a:pPr>
            <a:r>
              <a:rPr lang="en-US" sz="1400" dirty="0">
                <a:solidFill>
                  <a:schemeClr val="tx1"/>
                </a:solidFill>
                <a:latin typeface="Arial" pitchFamily="34" charset="0"/>
                <a:ea typeface="Arial" pitchFamily="34" charset="-122"/>
                <a:cs typeface="Arial" pitchFamily="34" charset="-120"/>
              </a:rPr>
              <a:t>up to 24 km and back</a:t>
            </a:r>
            <a:endParaRPr lang="en-US" sz="1400" dirty="0"/>
          </a:p>
        </p:txBody>
      </p:sp>
      <p:sp>
        <p:nvSpPr>
          <p:cNvPr id="5" name="Ground snail"/>
          <p:cNvSpPr/>
          <p:nvPr/>
        </p:nvSpPr>
        <p:spPr>
          <a:xfrm>
            <a:off x="812800" y="2451100"/>
            <a:ext cx="2794000" cy="698500"/>
          </a:xfrm>
          <a:prstGeom prst="roundRect">
            <a:avLst>
              <a:gd name="adj" fmla="val 10473"/>
            </a:avLst>
          </a:prstGeom>
          <a:solidFill>
            <a:schemeClr val="bg2"/>
          </a:solidFill>
          <a:ln/>
        </p:spPr>
      </p:sp>
      <p:sp>
        <p:nvSpPr>
          <p:cNvPr id="6" name="Text 4"/>
          <p:cNvSpPr txBox="1"/>
          <p:nvPr/>
        </p:nvSpPr>
        <p:spPr>
          <a:xfrm>
            <a:off x="1016000" y="2451100"/>
            <a:ext cx="2387600" cy="698500"/>
          </a:xfrm>
          <a:prstGeom prst="rect">
            <a:avLst/>
          </a:prstGeom>
          <a:noFill/>
          <a:ln/>
        </p:spPr>
        <p:txBody>
          <a:bodyPr wrap="square" lIns="0" tIns="0" rIns="0" bIns="0" rtlCol="0" anchor="ctr"/>
          <a:lstStyle/>
          <a:p>
            <a:pPr indent="0" marL="0">
              <a:lnSpc>
                <a:spcPct val="110000"/>
              </a:lnSpc>
              <a:buNone/>
            </a:pPr>
            <a:r>
              <a:rPr lang="en-US" sz="1400" b="1" dirty="0">
                <a:solidFill>
                  <a:schemeClr val="tx1"/>
                </a:solidFill>
                <a:latin typeface="Arial" pitchFamily="34" charset="0"/>
                <a:ea typeface="Arial" pitchFamily="34" charset="-122"/>
                <a:cs typeface="Arial" pitchFamily="34" charset="-120"/>
              </a:rPr>
              <a:t>Ground snail</a:t>
            </a:r>
            <a:endParaRPr lang="en-US" sz="1400" dirty="0"/>
          </a:p>
          <a:p>
            <a:pPr indent="0" marL="0">
              <a:lnSpc>
                <a:spcPct val="110000"/>
              </a:lnSpc>
              <a:buNone/>
            </a:pPr>
            <a:r>
              <a:rPr lang="en-US" sz="1400" dirty="0">
                <a:solidFill>
                  <a:schemeClr val="tx1"/>
                </a:solidFill>
                <a:latin typeface="Arial" pitchFamily="34" charset="0"/>
                <a:ea typeface="Arial" pitchFamily="34" charset="-122"/>
                <a:cs typeface="Arial" pitchFamily="34" charset="-120"/>
              </a:rPr>
              <a:t>same box, same days</a:t>
            </a:r>
            <a:endParaRPr lang="en-US" sz="1400" dirty="0"/>
          </a:p>
        </p:txBody>
      </p:sp>
      <p:sp>
        <p:nvSpPr>
          <p:cNvPr id="7" name="Arrow 1"/>
          <p:cNvSpPr/>
          <p:nvPr/>
        </p:nvSpPr>
        <p:spPr>
          <a:xfrm>
            <a:off x="3810000" y="2286000"/>
            <a:ext cx="457200" cy="228600"/>
          </a:xfrm>
          <a:prstGeom prst="rightArrow">
            <a:avLst/>
          </a:prstGeom>
          <a:solidFill>
            <a:srgbClr val="7A7F88"/>
          </a:solidFill>
          <a:ln/>
        </p:spPr>
      </p:sp>
      <p:sp>
        <p:nvSpPr>
          <p:cNvPr id="8" name="Collect"/>
          <p:cNvSpPr/>
          <p:nvPr/>
        </p:nvSpPr>
        <p:spPr>
          <a:xfrm>
            <a:off x="4470400" y="2051050"/>
            <a:ext cx="3022600" cy="698500"/>
          </a:xfrm>
          <a:prstGeom prst="roundRect">
            <a:avLst>
              <a:gd name="adj" fmla="val 10473"/>
            </a:avLst>
          </a:prstGeom>
          <a:solidFill>
            <a:schemeClr val="bg2"/>
          </a:solidFill>
          <a:ln/>
        </p:spPr>
      </p:sp>
      <p:sp>
        <p:nvSpPr>
          <p:cNvPr id="9" name="Text 7"/>
          <p:cNvSpPr txBox="1"/>
          <p:nvPr/>
        </p:nvSpPr>
        <p:spPr>
          <a:xfrm>
            <a:off x="4673600" y="2051050"/>
            <a:ext cx="2616200" cy="698500"/>
          </a:xfrm>
          <a:prstGeom prst="rect">
            <a:avLst/>
          </a:prstGeom>
          <a:noFill/>
          <a:ln/>
        </p:spPr>
        <p:txBody>
          <a:bodyPr wrap="square" lIns="0" tIns="0" rIns="0" bIns="0" rtlCol="0" anchor="ctr"/>
          <a:lstStyle/>
          <a:p>
            <a:pPr indent="0" marL="0">
              <a:lnSpc>
                <a:spcPct val="110000"/>
              </a:lnSpc>
              <a:buNone/>
            </a:pPr>
            <a:r>
              <a:rPr lang="en-US" sz="1400" b="1" dirty="0">
                <a:solidFill>
                  <a:schemeClr val="tx1"/>
                </a:solidFill>
                <a:latin typeface="Arial" pitchFamily="34" charset="0"/>
                <a:ea typeface="Arial" pitchFamily="34" charset="-122"/>
                <a:cs typeface="Arial" pitchFamily="34" charset="-120"/>
              </a:rPr>
              <a:t>Collect mucus</a:t>
            </a:r>
            <a:endParaRPr lang="en-US" sz="1400" dirty="0"/>
          </a:p>
          <a:p>
            <a:pPr indent="0" marL="0">
              <a:lnSpc>
                <a:spcPct val="110000"/>
              </a:lnSpc>
              <a:buNone/>
            </a:pPr>
            <a:r>
              <a:rPr lang="en-US" sz="1400" dirty="0">
                <a:solidFill>
                  <a:schemeClr val="tx1"/>
                </a:solidFill>
                <a:latin typeface="Arial" pitchFamily="34" charset="0"/>
                <a:ea typeface="Arial" pitchFamily="34" charset="-122"/>
                <a:cs typeface="Arial" pitchFamily="34" charset="-120"/>
              </a:rPr>
              <a:t>from both snails</a:t>
            </a:r>
            <a:endParaRPr lang="en-US" sz="1400" dirty="0"/>
          </a:p>
        </p:txBody>
      </p:sp>
      <p:sp>
        <p:nvSpPr>
          <p:cNvPr id="10" name="Arrow 2"/>
          <p:cNvSpPr/>
          <p:nvPr/>
        </p:nvSpPr>
        <p:spPr>
          <a:xfrm>
            <a:off x="7696200" y="2286000"/>
            <a:ext cx="457200" cy="228600"/>
          </a:xfrm>
          <a:prstGeom prst="rightArrow">
            <a:avLst/>
          </a:prstGeom>
          <a:solidFill>
            <a:srgbClr val="7A7F88"/>
          </a:solidFill>
          <a:ln/>
        </p:spPr>
      </p:sp>
      <p:sp>
        <p:nvSpPr>
          <p:cNvPr id="11" name="Same tests"/>
          <p:cNvSpPr/>
          <p:nvPr/>
        </p:nvSpPr>
        <p:spPr>
          <a:xfrm>
            <a:off x="8356600" y="2051050"/>
            <a:ext cx="3022600" cy="698500"/>
          </a:xfrm>
          <a:prstGeom prst="roundRect">
            <a:avLst>
              <a:gd name="adj" fmla="val 10473"/>
            </a:avLst>
          </a:prstGeom>
          <a:solidFill>
            <a:schemeClr val="bg2"/>
          </a:solidFill>
          <a:ln/>
        </p:spPr>
      </p:sp>
      <p:sp>
        <p:nvSpPr>
          <p:cNvPr id="12" name="Text 10"/>
          <p:cNvSpPr txBox="1"/>
          <p:nvPr/>
        </p:nvSpPr>
        <p:spPr>
          <a:xfrm>
            <a:off x="8559800" y="2051050"/>
            <a:ext cx="2616200" cy="698500"/>
          </a:xfrm>
          <a:prstGeom prst="rect">
            <a:avLst/>
          </a:prstGeom>
          <a:noFill/>
          <a:ln/>
        </p:spPr>
        <p:txBody>
          <a:bodyPr wrap="square" lIns="0" tIns="0" rIns="0" bIns="0" rtlCol="0" anchor="ctr"/>
          <a:lstStyle/>
          <a:p>
            <a:pPr indent="0" marL="0">
              <a:lnSpc>
                <a:spcPct val="110000"/>
              </a:lnSpc>
              <a:buNone/>
            </a:pPr>
            <a:r>
              <a:rPr lang="en-US" sz="1400" b="1" dirty="0">
                <a:solidFill>
                  <a:schemeClr val="tx1"/>
                </a:solidFill>
                <a:latin typeface="Arial" pitchFamily="34" charset="0"/>
                <a:ea typeface="Arial" pitchFamily="34" charset="-122"/>
                <a:cs typeface="Arial" pitchFamily="34" charset="-120"/>
              </a:rPr>
              <a:t>Same tests</a:t>
            </a:r>
            <a:endParaRPr lang="en-US" sz="1400" dirty="0"/>
          </a:p>
          <a:p>
            <a:pPr indent="0" marL="0">
              <a:lnSpc>
                <a:spcPct val="110000"/>
              </a:lnSpc>
              <a:buNone/>
            </a:pPr>
            <a:r>
              <a:rPr lang="en-US" sz="1400" dirty="0">
                <a:solidFill>
                  <a:schemeClr val="tx1"/>
                </a:solidFill>
                <a:latin typeface="Arial" pitchFamily="34" charset="0"/>
                <a:ea typeface="Arial" pitchFamily="34" charset="-122"/>
                <a:cs typeface="Arial" pitchFamily="34" charset="-120"/>
              </a:rPr>
              <a:t>on both samples</a:t>
            </a:r>
            <a:endParaRPr lang="en-US" sz="1400" dirty="0"/>
          </a:p>
        </p:txBody>
      </p:sp>
      <p:sp>
        <p:nvSpPr>
          <p:cNvPr id="13" name="Rule Structure"/>
          <p:cNvSpPr/>
          <p:nvPr/>
        </p:nvSpPr>
        <p:spPr>
          <a:xfrm>
            <a:off x="812800" y="3683000"/>
            <a:ext cx="2527300" cy="27432"/>
          </a:xfrm>
          <a:prstGeom prst="rect">
            <a:avLst/>
          </a:prstGeom>
          <a:solidFill>
            <a:srgbClr val="1A1D23"/>
          </a:solidFill>
          <a:ln/>
        </p:spPr>
      </p:sp>
      <p:sp>
        <p:nvSpPr>
          <p:cNvPr id="14" name="Text 12"/>
          <p:cNvSpPr txBox="1"/>
          <p:nvPr/>
        </p:nvSpPr>
        <p:spPr>
          <a:xfrm>
            <a:off x="812800" y="3841750"/>
            <a:ext cx="2527300" cy="6400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latin typeface="Arial" pitchFamily="34" charset="0"/>
                <a:ea typeface="Arial" pitchFamily="34" charset="-122"/>
                <a:cs typeface="Arial" pitchFamily="34" charset="-120"/>
              </a:rPr>
              <a:t>Structure</a:t>
            </a:r>
            <a:endParaRPr lang="en-US" sz="1600" dirty="0"/>
          </a:p>
          <a:p>
            <a:pPr indent="0" marL="0">
              <a:spcAft>
                <a:spcPts val="200"/>
              </a:spcAft>
              <a:buNone/>
            </a:pPr>
            <a:r>
              <a:rPr lang="en-US" sz="1300" dirty="0">
                <a:solidFill>
                  <a:schemeClr val="accent3"/>
                </a:solidFill>
                <a:latin typeface="Arial" pitchFamily="34" charset="0"/>
                <a:ea typeface="Arial" pitchFamily="34" charset="-122"/>
                <a:cs typeface="Arial" pitchFamily="34" charset="-120"/>
              </a:rPr>
              <a:t>Is the gel still stable?</a:t>
            </a:r>
            <a:endParaRPr lang="en-US" sz="1600" dirty="0"/>
          </a:p>
        </p:txBody>
      </p:sp>
      <p:sp>
        <p:nvSpPr>
          <p:cNvPr id="15" name="Rule Stickiness"/>
          <p:cNvSpPr/>
          <p:nvPr/>
        </p:nvSpPr>
        <p:spPr>
          <a:xfrm>
            <a:off x="3492500" y="3683000"/>
            <a:ext cx="2527300" cy="27432"/>
          </a:xfrm>
          <a:prstGeom prst="rect">
            <a:avLst/>
          </a:prstGeom>
          <a:solidFill>
            <a:srgbClr val="1A1D23"/>
          </a:solidFill>
          <a:ln/>
        </p:spPr>
      </p:sp>
      <p:sp>
        <p:nvSpPr>
          <p:cNvPr id="16" name="Text 14"/>
          <p:cNvSpPr txBox="1"/>
          <p:nvPr/>
        </p:nvSpPr>
        <p:spPr>
          <a:xfrm>
            <a:off x="3492500" y="3841750"/>
            <a:ext cx="2527300" cy="6400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latin typeface="Arial" pitchFamily="34" charset="0"/>
                <a:ea typeface="Arial" pitchFamily="34" charset="-122"/>
                <a:cs typeface="Arial" pitchFamily="34" charset="-120"/>
              </a:rPr>
              <a:t>Stickiness</a:t>
            </a:r>
            <a:endParaRPr lang="en-US" sz="1600" dirty="0"/>
          </a:p>
          <a:p>
            <a:pPr indent="0" marL="0">
              <a:spcAft>
                <a:spcPts val="200"/>
              </a:spcAft>
              <a:buNone/>
            </a:pPr>
            <a:r>
              <a:rPr lang="en-US" sz="1300" dirty="0">
                <a:solidFill>
                  <a:schemeClr val="accent3"/>
                </a:solidFill>
                <a:latin typeface="Arial" pitchFamily="34" charset="0"/>
                <a:ea typeface="Arial" pitchFamily="34" charset="-122"/>
                <a:cs typeface="Arial" pitchFamily="34" charset="-120"/>
              </a:rPr>
              <a:t>Does it still stick to tissue?</a:t>
            </a:r>
            <a:endParaRPr lang="en-US" sz="1600" dirty="0"/>
          </a:p>
        </p:txBody>
      </p:sp>
      <p:sp>
        <p:nvSpPr>
          <p:cNvPr id="17" name="Rule Moisture"/>
          <p:cNvSpPr/>
          <p:nvPr/>
        </p:nvSpPr>
        <p:spPr>
          <a:xfrm>
            <a:off x="6172200" y="3683000"/>
            <a:ext cx="2527300" cy="27432"/>
          </a:xfrm>
          <a:prstGeom prst="rect">
            <a:avLst/>
          </a:prstGeom>
          <a:solidFill>
            <a:srgbClr val="1A1D23"/>
          </a:solidFill>
          <a:ln/>
        </p:spPr>
      </p:sp>
      <p:sp>
        <p:nvSpPr>
          <p:cNvPr id="18" name="Text 16"/>
          <p:cNvSpPr txBox="1"/>
          <p:nvPr/>
        </p:nvSpPr>
        <p:spPr>
          <a:xfrm>
            <a:off x="6172200" y="3841750"/>
            <a:ext cx="2527300" cy="6400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latin typeface="Arial" pitchFamily="34" charset="0"/>
                <a:ea typeface="Arial" pitchFamily="34" charset="-122"/>
                <a:cs typeface="Arial" pitchFamily="34" charset="-120"/>
              </a:rPr>
              <a:t>Moisture</a:t>
            </a:r>
            <a:endParaRPr lang="en-US" sz="1600" dirty="0"/>
          </a:p>
          <a:p>
            <a:pPr indent="0" marL="0">
              <a:spcAft>
                <a:spcPts val="200"/>
              </a:spcAft>
              <a:buNone/>
            </a:pPr>
            <a:r>
              <a:rPr lang="en-US" sz="1300" dirty="0">
                <a:solidFill>
                  <a:schemeClr val="accent3"/>
                </a:solidFill>
                <a:latin typeface="Arial" pitchFamily="34" charset="0"/>
                <a:ea typeface="Arial" pitchFamily="34" charset="-122"/>
                <a:cs typeface="Arial" pitchFamily="34" charset="-120"/>
              </a:rPr>
              <a:t>Does it still hold water?</a:t>
            </a:r>
            <a:endParaRPr lang="en-US" sz="1600" dirty="0"/>
          </a:p>
        </p:txBody>
      </p:sp>
      <p:sp>
        <p:nvSpPr>
          <p:cNvPr id="19" name="Rule Antibacterial"/>
          <p:cNvSpPr/>
          <p:nvPr/>
        </p:nvSpPr>
        <p:spPr>
          <a:xfrm>
            <a:off x="8851900" y="3683000"/>
            <a:ext cx="2527300" cy="27432"/>
          </a:xfrm>
          <a:prstGeom prst="rect">
            <a:avLst/>
          </a:prstGeom>
          <a:solidFill>
            <a:srgbClr val="1A1D23"/>
          </a:solidFill>
          <a:ln/>
        </p:spPr>
      </p:sp>
      <p:sp>
        <p:nvSpPr>
          <p:cNvPr id="20" name="Text 18"/>
          <p:cNvSpPr txBox="1"/>
          <p:nvPr/>
        </p:nvSpPr>
        <p:spPr>
          <a:xfrm>
            <a:off x="8851900" y="3841750"/>
            <a:ext cx="2527300" cy="6400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latin typeface="Arial" pitchFamily="34" charset="0"/>
                <a:ea typeface="Arial" pitchFamily="34" charset="-122"/>
                <a:cs typeface="Arial" pitchFamily="34" charset="-120"/>
              </a:rPr>
              <a:t>Antibacterial</a:t>
            </a:r>
            <a:endParaRPr lang="en-US" sz="1600" dirty="0"/>
          </a:p>
          <a:p>
            <a:pPr indent="0" marL="0">
              <a:spcAft>
                <a:spcPts val="200"/>
              </a:spcAft>
              <a:buNone/>
            </a:pPr>
            <a:r>
              <a:rPr lang="en-US" sz="1300" dirty="0">
                <a:solidFill>
                  <a:schemeClr val="accent3"/>
                </a:solidFill>
                <a:latin typeface="Arial" pitchFamily="34" charset="0"/>
                <a:ea typeface="Arial" pitchFamily="34" charset="-122"/>
                <a:cs typeface="Arial" pitchFamily="34" charset="-120"/>
              </a:rPr>
              <a:t>Does it still stop bacteria?</a:t>
            </a:r>
            <a:endParaRPr lang="en-US" sz="1600" dirty="0"/>
          </a:p>
        </p:txBody>
      </p:sp>
      <p:sp>
        <p:nvSpPr>
          <p:cNvPr id="21" name="During flight box"/>
          <p:cNvSpPr/>
          <p:nvPr/>
        </p:nvSpPr>
        <p:spPr>
          <a:xfrm>
            <a:off x="812800" y="5016500"/>
            <a:ext cx="10566400" cy="635000"/>
          </a:xfrm>
          <a:prstGeom prst="roundRect">
            <a:avLst>
              <a:gd name="adj" fmla="val 11520"/>
            </a:avLst>
          </a:prstGeom>
          <a:solidFill>
            <a:schemeClr val="accent6"/>
          </a:solidFill>
          <a:ln/>
        </p:spPr>
      </p:sp>
      <p:sp>
        <p:nvSpPr>
          <p:cNvPr id="22" name="Text 20"/>
          <p:cNvSpPr txBox="1"/>
          <p:nvPr/>
        </p:nvSpPr>
        <p:spPr>
          <a:xfrm>
            <a:off x="1016000" y="5016500"/>
            <a:ext cx="10160000" cy="6350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During the flight, </a:t>
            </a:r>
            <a:pPr indent="0" marL="0">
              <a:buNone/>
            </a:pPr>
            <a:r>
              <a:rPr lang="en-US" sz="1600" dirty="0">
                <a:solidFill>
                  <a:schemeClr val="tx1"/>
                </a:solidFill>
                <a:latin typeface="Arial" pitchFamily="34" charset="0"/>
                <a:ea typeface="Arial" pitchFamily="34" charset="-122"/>
                <a:cs typeface="Arial" pitchFamily="34" charset="-120"/>
              </a:rPr>
              <a:t>SnailPulse records the snail’s heartbeat live, so we know what it went through.</a:t>
            </a:r>
            <a:endParaRPr lang="en-US" sz="1600" dirty="0"/>
          </a:p>
        </p:txBody>
      </p:sp>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A7F8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12800" y="703072"/>
            <a:ext cx="10566400" cy="63500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How SnailPulse works</a:t>
            </a:r>
            <a:endParaRPr lang="en-US" sz="3600" dirty="0"/>
          </a:p>
        </p:txBody>
      </p:sp>
      <p:sp>
        <p:nvSpPr>
          <p:cNvPr id="3" name="Step 1"/>
          <p:cNvSpPr/>
          <p:nvPr/>
        </p:nvSpPr>
        <p:spPr>
          <a:xfrm>
            <a:off x="812800" y="1841500"/>
            <a:ext cx="2565400" cy="2095500"/>
          </a:xfrm>
          <a:prstGeom prst="roundRect">
            <a:avLst>
              <a:gd name="adj" fmla="val 3491"/>
            </a:avLst>
          </a:prstGeom>
          <a:solidFill>
            <a:schemeClr val="accent6"/>
          </a:solidFill>
          <a:ln/>
        </p:spPr>
      </p:sp>
      <p:sp>
        <p:nvSpPr>
          <p:cNvPr id="4" name="Text 2"/>
          <p:cNvSpPr txBox="1"/>
          <p:nvPr/>
        </p:nvSpPr>
        <p:spPr>
          <a:xfrm>
            <a:off x="1016000" y="203200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1016000" y="2349500"/>
            <a:ext cx="2159000" cy="45720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Sensor on the shell</a:t>
            </a:r>
            <a:endParaRPr lang="en-US" sz="1600" dirty="0"/>
          </a:p>
        </p:txBody>
      </p:sp>
      <p:sp>
        <p:nvSpPr>
          <p:cNvPr id="6" name="Text 4"/>
          <p:cNvSpPr txBox="1"/>
          <p:nvPr/>
        </p:nvSpPr>
        <p:spPr>
          <a:xfrm>
            <a:off x="1016000" y="2730500"/>
            <a:ext cx="2159000" cy="914400"/>
          </a:xfrm>
          <a:prstGeom prst="rect">
            <a:avLst/>
          </a:prstGeom>
          <a:noFill/>
          <a:ln/>
        </p:spPr>
        <p:txBody>
          <a:bodyPr wrap="square" lIns="0" tIns="0" rIns="0" bIns="0" rtlCol="0" anchor="t"/>
          <a:lstStyle/>
          <a:p>
            <a:pPr indent="0" marL="0">
              <a:lnSpc>
                <a:spcPct val="120000"/>
              </a:lnSpc>
              <a:buNone/>
            </a:pPr>
            <a:r>
              <a:rPr lang="en-US" sz="1300" dirty="0">
                <a:solidFill>
                  <a:schemeClr val="accent3"/>
                </a:solidFill>
                <a:latin typeface="Arial" pitchFamily="34" charset="0"/>
                <a:ea typeface="Arial" pitchFamily="34" charset="-122"/>
                <a:cs typeface="Arial" pitchFamily="34" charset="-120"/>
              </a:rPr>
              <a:t>Infrared light shines in. Each heartbeat changes how much comes back.</a:t>
            </a:r>
            <a:endParaRPr lang="en-US" sz="1300" dirty="0"/>
          </a:p>
        </p:txBody>
      </p:sp>
      <p:sp>
        <p:nvSpPr>
          <p:cNvPr id="7" name="Step 2"/>
          <p:cNvSpPr/>
          <p:nvPr/>
        </p:nvSpPr>
        <p:spPr>
          <a:xfrm>
            <a:off x="3479800" y="1841500"/>
            <a:ext cx="2565400" cy="2095500"/>
          </a:xfrm>
          <a:prstGeom prst="roundRect">
            <a:avLst>
              <a:gd name="adj" fmla="val 3491"/>
            </a:avLst>
          </a:prstGeom>
          <a:solidFill>
            <a:schemeClr val="bg2"/>
          </a:solidFill>
          <a:ln/>
        </p:spPr>
      </p:sp>
      <p:sp>
        <p:nvSpPr>
          <p:cNvPr id="8" name="Text 6"/>
          <p:cNvSpPr txBox="1"/>
          <p:nvPr/>
        </p:nvSpPr>
        <p:spPr>
          <a:xfrm>
            <a:off x="3683000" y="203200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3683000" y="2349500"/>
            <a:ext cx="2159000" cy="45720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Our board</a:t>
            </a:r>
            <a:endParaRPr lang="en-US" sz="1600" dirty="0"/>
          </a:p>
        </p:txBody>
      </p:sp>
      <p:sp>
        <p:nvSpPr>
          <p:cNvPr id="10" name="Text 8"/>
          <p:cNvSpPr txBox="1"/>
          <p:nvPr/>
        </p:nvSpPr>
        <p:spPr>
          <a:xfrm>
            <a:off x="3683000" y="2730500"/>
            <a:ext cx="2159000" cy="914400"/>
          </a:xfrm>
          <a:prstGeom prst="rect">
            <a:avLst/>
          </a:prstGeom>
          <a:noFill/>
          <a:ln/>
        </p:spPr>
        <p:txBody>
          <a:bodyPr wrap="square" lIns="0" tIns="0" rIns="0" bIns="0" rtlCol="0" anchor="t"/>
          <a:lstStyle/>
          <a:p>
            <a:pPr indent="0" marL="0">
              <a:lnSpc>
                <a:spcPct val="120000"/>
              </a:lnSpc>
              <a:buNone/>
            </a:pPr>
            <a:r>
              <a:rPr lang="en-US" sz="1300" dirty="0">
                <a:solidFill>
                  <a:schemeClr val="accent3"/>
                </a:solidFill>
                <a:latin typeface="Arial" pitchFamily="34" charset="0"/>
                <a:ea typeface="Arial" pitchFamily="34" charset="-122"/>
                <a:cs typeface="Arial" pitchFamily="34" charset="-120"/>
              </a:rPr>
              <a:t>Filters out noise and makes the tiny signal 101 times bigger.</a:t>
            </a:r>
            <a:endParaRPr lang="en-US" sz="1300" dirty="0"/>
          </a:p>
        </p:txBody>
      </p:sp>
      <p:sp>
        <p:nvSpPr>
          <p:cNvPr id="11" name="Step 3"/>
          <p:cNvSpPr/>
          <p:nvPr/>
        </p:nvSpPr>
        <p:spPr>
          <a:xfrm>
            <a:off x="6146800" y="1841500"/>
            <a:ext cx="2565400" cy="2095500"/>
          </a:xfrm>
          <a:prstGeom prst="roundRect">
            <a:avLst>
              <a:gd name="adj" fmla="val 3491"/>
            </a:avLst>
          </a:prstGeom>
          <a:solidFill>
            <a:schemeClr val="bg2"/>
          </a:solidFill>
          <a:ln/>
        </p:spPr>
      </p:sp>
      <p:sp>
        <p:nvSpPr>
          <p:cNvPr id="12" name="Text 10"/>
          <p:cNvSpPr txBox="1"/>
          <p:nvPr/>
        </p:nvSpPr>
        <p:spPr>
          <a:xfrm>
            <a:off x="6350000" y="203200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6350000" y="2349500"/>
            <a:ext cx="2159000" cy="45720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Flight computer</a:t>
            </a:r>
            <a:endParaRPr lang="en-US" sz="1600" dirty="0"/>
          </a:p>
        </p:txBody>
      </p:sp>
      <p:sp>
        <p:nvSpPr>
          <p:cNvPr id="14" name="Text 12"/>
          <p:cNvSpPr txBox="1"/>
          <p:nvPr/>
        </p:nvSpPr>
        <p:spPr>
          <a:xfrm>
            <a:off x="6350000" y="2730500"/>
            <a:ext cx="2159000" cy="914400"/>
          </a:xfrm>
          <a:prstGeom prst="rect">
            <a:avLst/>
          </a:prstGeom>
          <a:noFill/>
          <a:ln/>
        </p:spPr>
        <p:txBody>
          <a:bodyPr wrap="square" lIns="0" tIns="0" rIns="0" bIns="0" rtlCol="0" anchor="t"/>
          <a:lstStyle/>
          <a:p>
            <a:pPr indent="0" marL="0">
              <a:lnSpc>
                <a:spcPct val="120000"/>
              </a:lnSpc>
              <a:buNone/>
            </a:pPr>
            <a:r>
              <a:rPr lang="en-US" sz="1300" dirty="0">
                <a:solidFill>
                  <a:schemeClr val="accent3"/>
                </a:solidFill>
                <a:latin typeface="Arial" pitchFamily="34" charset="0"/>
                <a:ea typeface="Arial" pitchFamily="34" charset="-122"/>
                <a:cs typeface="Arial" pitchFamily="34" charset="-120"/>
              </a:rPr>
              <a:t>Reads it 50 times a second, counts the beats, saves everything to SD.</a:t>
            </a:r>
            <a:endParaRPr lang="en-US" sz="1300" dirty="0"/>
          </a:p>
        </p:txBody>
      </p:sp>
      <p:sp>
        <p:nvSpPr>
          <p:cNvPr id="15" name="Step 4"/>
          <p:cNvSpPr/>
          <p:nvPr/>
        </p:nvSpPr>
        <p:spPr>
          <a:xfrm>
            <a:off x="8813800" y="1841500"/>
            <a:ext cx="2565400" cy="2095500"/>
          </a:xfrm>
          <a:prstGeom prst="roundRect">
            <a:avLst>
              <a:gd name="adj" fmla="val 3491"/>
            </a:avLst>
          </a:prstGeom>
          <a:solidFill>
            <a:schemeClr val="bg2"/>
          </a:solidFill>
          <a:ln/>
        </p:spPr>
      </p:sp>
      <p:sp>
        <p:nvSpPr>
          <p:cNvPr id="16" name="Text 14"/>
          <p:cNvSpPr txBox="1"/>
          <p:nvPr/>
        </p:nvSpPr>
        <p:spPr>
          <a:xfrm>
            <a:off x="9017000" y="203200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9017000" y="2349500"/>
            <a:ext cx="2159000" cy="45720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Radio to the ground</a:t>
            </a:r>
            <a:endParaRPr lang="en-US" sz="1600" dirty="0"/>
          </a:p>
        </p:txBody>
      </p:sp>
      <p:sp>
        <p:nvSpPr>
          <p:cNvPr id="18" name="Text 16"/>
          <p:cNvSpPr txBox="1"/>
          <p:nvPr/>
        </p:nvSpPr>
        <p:spPr>
          <a:xfrm>
            <a:off x="9017000" y="2730500"/>
            <a:ext cx="2159000" cy="914400"/>
          </a:xfrm>
          <a:prstGeom prst="rect">
            <a:avLst/>
          </a:prstGeom>
          <a:noFill/>
          <a:ln/>
        </p:spPr>
        <p:txBody>
          <a:bodyPr wrap="square" lIns="0" tIns="0" rIns="0" bIns="0" rtlCol="0" anchor="t"/>
          <a:lstStyle/>
          <a:p>
            <a:pPr indent="0" marL="0">
              <a:lnSpc>
                <a:spcPct val="120000"/>
              </a:lnSpc>
              <a:buNone/>
            </a:pPr>
            <a:r>
              <a:rPr lang="en-US" sz="1300" dirty="0">
                <a:solidFill>
                  <a:schemeClr val="accent3"/>
                </a:solidFill>
                <a:latin typeface="Arial" pitchFamily="34" charset="0"/>
                <a:ea typeface="Arial" pitchFamily="34" charset="-122"/>
                <a:cs typeface="Arial" pitchFamily="34" charset="-120"/>
              </a:rPr>
              <a:t>Heart rate and a piece of the raw signal, every 2 seconds.</a:t>
            </a:r>
            <a:endParaRPr lang="en-US" sz="1300" dirty="0"/>
          </a:p>
        </p:txBody>
      </p:sp>
      <p:sp>
        <p:nvSpPr>
          <p:cNvPr id="19" name="Text 17"/>
          <p:cNvSpPr txBox="1"/>
          <p:nvPr/>
        </p:nvSpPr>
        <p:spPr>
          <a:xfrm>
            <a:off x="812800" y="4445000"/>
            <a:ext cx="3108960" cy="731520"/>
          </a:xfrm>
          <a:prstGeom prst="rect">
            <a:avLst/>
          </a:prstGeom>
          <a:noFill/>
          <a:ln/>
        </p:spPr>
        <p:txBody>
          <a:bodyPr wrap="square" lIns="0" tIns="0" rIns="0" bIns="0" rtlCol="0" anchor="t"/>
          <a:lstStyle/>
          <a:p>
            <a:pPr indent="0" marL="0">
              <a:buNone/>
            </a:pPr>
            <a:r>
              <a:rPr lang="en-US" sz="4800" b="1" dirty="0">
                <a:solidFill>
                  <a:schemeClr val="tx1"/>
                </a:solidFill>
                <a:latin typeface="Arial" pitchFamily="34" charset="0"/>
                <a:ea typeface="Arial" pitchFamily="34" charset="-122"/>
                <a:cs typeface="Arial" pitchFamily="34" charset="-120"/>
              </a:rPr>
              <a:t>10–200</a:t>
            </a:r>
            <a:endParaRPr lang="en-US" sz="4800" dirty="0"/>
          </a:p>
        </p:txBody>
      </p:sp>
      <p:sp>
        <p:nvSpPr>
          <p:cNvPr id="20" name="Text 18"/>
          <p:cNvSpPr txBox="1"/>
          <p:nvPr/>
        </p:nvSpPr>
        <p:spPr>
          <a:xfrm>
            <a:off x="812800" y="5207000"/>
            <a:ext cx="3108960" cy="32004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beats per minute the filter lets through</a:t>
            </a:r>
            <a:endParaRPr lang="en-US" sz="1200" dirty="0"/>
          </a:p>
        </p:txBody>
      </p:sp>
      <p:sp>
        <p:nvSpPr>
          <p:cNvPr id="21" name="Text 19"/>
          <p:cNvSpPr txBox="1"/>
          <p:nvPr/>
        </p:nvSpPr>
        <p:spPr>
          <a:xfrm>
            <a:off x="4196080" y="4445000"/>
            <a:ext cx="2011680" cy="731520"/>
          </a:xfrm>
          <a:prstGeom prst="rect">
            <a:avLst/>
          </a:prstGeom>
          <a:noFill/>
          <a:ln/>
        </p:spPr>
        <p:txBody>
          <a:bodyPr wrap="square" lIns="0" tIns="0" rIns="0" bIns="0" rtlCol="0" anchor="t"/>
          <a:lstStyle/>
          <a:p>
            <a:pPr indent="0" marL="0">
              <a:buNone/>
            </a:pPr>
            <a:r>
              <a:rPr lang="en-US" sz="4800" b="1" dirty="0">
                <a:solidFill>
                  <a:schemeClr val="tx1"/>
                </a:solidFill>
                <a:latin typeface="Arial" pitchFamily="34" charset="0"/>
                <a:ea typeface="Arial" pitchFamily="34" charset="-122"/>
                <a:cs typeface="Arial" pitchFamily="34" charset="-120"/>
              </a:rPr>
              <a:t>×101</a:t>
            </a:r>
            <a:endParaRPr lang="en-US" sz="4800" dirty="0"/>
          </a:p>
        </p:txBody>
      </p:sp>
      <p:sp>
        <p:nvSpPr>
          <p:cNvPr id="22" name="Text 20"/>
          <p:cNvSpPr txBox="1"/>
          <p:nvPr/>
        </p:nvSpPr>
        <p:spPr>
          <a:xfrm>
            <a:off x="4196080" y="5207000"/>
            <a:ext cx="2011680" cy="32004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signal gain</a:t>
            </a:r>
            <a:endParaRPr lang="en-US" sz="1200" dirty="0"/>
          </a:p>
        </p:txBody>
      </p:sp>
      <p:sp>
        <p:nvSpPr>
          <p:cNvPr id="23" name="Text 21"/>
          <p:cNvSpPr txBox="1"/>
          <p:nvPr/>
        </p:nvSpPr>
        <p:spPr>
          <a:xfrm>
            <a:off x="6482080" y="4445000"/>
            <a:ext cx="3200400" cy="731520"/>
          </a:xfrm>
          <a:prstGeom prst="rect">
            <a:avLst/>
          </a:prstGeom>
          <a:noFill/>
          <a:ln/>
        </p:spPr>
        <p:txBody>
          <a:bodyPr wrap="square" lIns="0" tIns="0" rIns="0" bIns="0" rtlCol="0" anchor="t"/>
          <a:lstStyle/>
          <a:p>
            <a:pPr indent="0" marL="0">
              <a:buNone/>
            </a:pPr>
            <a:r>
              <a:rPr lang="en-US" sz="4800" b="1" dirty="0">
                <a:solidFill>
                  <a:schemeClr val="tx1"/>
                </a:solidFill>
                <a:latin typeface="Arial" pitchFamily="34" charset="0"/>
                <a:ea typeface="Arial" pitchFamily="34" charset="-122"/>
                <a:cs typeface="Arial" pitchFamily="34" charset="-120"/>
              </a:rPr>
              <a:t>2 s</a:t>
            </a:r>
            <a:endParaRPr lang="en-US" sz="4800" dirty="0"/>
          </a:p>
        </p:txBody>
      </p:sp>
      <p:sp>
        <p:nvSpPr>
          <p:cNvPr id="24" name="Text 22"/>
          <p:cNvSpPr txBox="1"/>
          <p:nvPr/>
        </p:nvSpPr>
        <p:spPr>
          <a:xfrm>
            <a:off x="6482080" y="5207000"/>
            <a:ext cx="3200400" cy="32004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between updates on the ground</a:t>
            </a:r>
            <a:endParaRPr lang="en-US" sz="1200" dirty="0"/>
          </a:p>
        </p:txBody>
      </p:sp>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A7F8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12800" y="703072"/>
            <a:ext cx="10566400" cy="63500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Our circuit, revision C</a:t>
            </a:r>
            <a:endParaRPr lang="en-US" sz="3600" dirty="0"/>
          </a:p>
        </p:txBody>
      </p:sp>
      <p:sp>
        <p:nvSpPr>
          <p:cNvPr id="3" name="Schematic panel"/>
          <p:cNvSpPr/>
          <p:nvPr/>
        </p:nvSpPr>
        <p:spPr>
          <a:xfrm>
            <a:off x="812800" y="1524000"/>
            <a:ext cx="10566400" cy="3867150"/>
          </a:xfrm>
          <a:prstGeom prst="roundRect">
            <a:avLst>
              <a:gd name="adj" fmla="val 1892"/>
            </a:avLst>
          </a:prstGeom>
          <a:solidFill>
            <a:srgbClr val="FBFAF6"/>
          </a:solidFill>
          <a:ln/>
        </p:spPr>
      </p:sp>
      <p:pic>
        <p:nvPicPr>
          <p:cNvPr id="4" name="Schematic" descr="KiCad schematic, revision C: TCRT5000 infrared sensor, high-pass filter, MCP6002 amplifier with gain 101, and a 1.65 V reference">    </p:cNvPr>
          <p:cNvPicPr>
            <a:picLocks noChangeAspect="1"/>
          </p:cNvPicPr>
          <p:nvPr/>
        </p:nvPicPr>
        <p:blipFill>
          <a:blip r:embed="rId1"/>
          <a:stretch>
            <a:fillRect/>
          </a:stretch>
        </p:blipFill>
        <p:spPr>
          <a:xfrm>
            <a:off x="1651000" y="1676400"/>
            <a:ext cx="8890000" cy="3561778"/>
          </a:xfrm>
          <a:prstGeom prst="rect">
            <a:avLst/>
          </a:prstGeom>
        </p:spPr>
      </p:pic>
      <p:sp>
        <p:nvSpPr>
          <p:cNvPr id="5" name="Text 2"/>
          <p:cNvSpPr txBox="1"/>
          <p:nvPr/>
        </p:nvSpPr>
        <p:spPr>
          <a:xfrm>
            <a:off x="812800" y="5588000"/>
            <a:ext cx="10566400" cy="32004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Sensor → filter → amplifier → flight computer. Two chips, no extra microcontroller.</a:t>
            </a:r>
            <a:endParaRPr lang="en-US" sz="1400" dirty="0"/>
          </a:p>
        </p:txBody>
      </p:sp>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A7F8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12800" y="703072"/>
            <a:ext cx="10566400" cy="63500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Where we are today</a:t>
            </a:r>
            <a:endParaRPr lang="en-US" sz="3600" dirty="0"/>
          </a:p>
        </p:txBody>
      </p:sp>
      <p:sp>
        <p:nvSpPr>
          <p:cNvPr id="3" name="Status Done"/>
          <p:cNvSpPr/>
          <p:nvPr/>
        </p:nvSpPr>
        <p:spPr>
          <a:xfrm>
            <a:off x="812800" y="1714500"/>
            <a:ext cx="3386667" cy="2794000"/>
          </a:xfrm>
          <a:prstGeom prst="roundRect">
            <a:avLst>
              <a:gd name="adj" fmla="val 2618"/>
            </a:avLst>
          </a:prstGeom>
          <a:solidFill>
            <a:schemeClr val="bg2"/>
          </a:solidFill>
          <a:ln/>
        </p:spPr>
      </p:sp>
      <p:sp>
        <p:nvSpPr>
          <p:cNvPr id="4" name="Text 2"/>
          <p:cNvSpPr txBox="1"/>
          <p:nvPr/>
        </p:nvSpPr>
        <p:spPr>
          <a:xfrm>
            <a:off x="1066800" y="1968500"/>
            <a:ext cx="2878667"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Done</a:t>
            </a:r>
            <a:endParaRPr lang="en-US" sz="2200" dirty="0"/>
          </a:p>
        </p:txBody>
      </p:sp>
      <p:sp>
        <p:nvSpPr>
          <p:cNvPr id="5" name="Text 3"/>
          <p:cNvSpPr txBox="1"/>
          <p:nvPr/>
        </p:nvSpPr>
        <p:spPr>
          <a:xfrm>
            <a:off x="1066800" y="2476500"/>
            <a:ext cx="2878667" cy="17780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Test flight: snail survived, satellite recovered</a:t>
            </a:r>
            <a:endParaRPr lang="en-US" sz="1500" dirty="0"/>
          </a:p>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Circuit designed and reviewed</a:t>
            </a:r>
            <a:endParaRPr lang="en-US" sz="1500" dirty="0"/>
          </a:p>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Flight code and ground software, tested on a PC</a:t>
            </a:r>
            <a:endParaRPr lang="en-US" sz="1500" dirty="0"/>
          </a:p>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All parts bought</a:t>
            </a:r>
            <a:endParaRPr lang="en-US" sz="1500" dirty="0"/>
          </a:p>
        </p:txBody>
      </p:sp>
      <p:sp>
        <p:nvSpPr>
          <p:cNvPr id="6" name="Status Now"/>
          <p:cNvSpPr/>
          <p:nvPr/>
        </p:nvSpPr>
        <p:spPr>
          <a:xfrm>
            <a:off x="4402667" y="1714500"/>
            <a:ext cx="3386667" cy="2794000"/>
          </a:xfrm>
          <a:prstGeom prst="roundRect">
            <a:avLst>
              <a:gd name="adj" fmla="val 2618"/>
            </a:avLst>
          </a:prstGeom>
          <a:solidFill>
            <a:schemeClr val="accent6"/>
          </a:solidFill>
          <a:ln/>
        </p:spPr>
      </p:sp>
      <p:sp>
        <p:nvSpPr>
          <p:cNvPr id="7" name="Text 5"/>
          <p:cNvSpPr txBox="1"/>
          <p:nvPr/>
        </p:nvSpPr>
        <p:spPr>
          <a:xfrm>
            <a:off x="4656667" y="1968500"/>
            <a:ext cx="2878667"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Now</a:t>
            </a:r>
            <a:endParaRPr lang="en-US" sz="2200" dirty="0"/>
          </a:p>
        </p:txBody>
      </p:sp>
      <p:sp>
        <p:nvSpPr>
          <p:cNvPr id="8" name="Text 6"/>
          <p:cNvSpPr txBox="1"/>
          <p:nvPr/>
        </p:nvSpPr>
        <p:spPr>
          <a:xfrm>
            <a:off x="4656667" y="2476500"/>
            <a:ext cx="2878667" cy="17780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Soldering the board</a:t>
            </a:r>
            <a:endParaRPr lang="en-US" sz="1500" dirty="0"/>
          </a:p>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Bench test: a finger pulse first, then a snail</a:t>
            </a:r>
            <a:endParaRPr lang="en-US" sz="1500" dirty="0"/>
          </a:p>
        </p:txBody>
      </p:sp>
      <p:sp>
        <p:nvSpPr>
          <p:cNvPr id="9" name="Status Next, in Moscow"/>
          <p:cNvSpPr/>
          <p:nvPr/>
        </p:nvSpPr>
        <p:spPr>
          <a:xfrm>
            <a:off x="7992533" y="1714500"/>
            <a:ext cx="3386667" cy="2794000"/>
          </a:xfrm>
          <a:prstGeom prst="roundRect">
            <a:avLst>
              <a:gd name="adj" fmla="val 2618"/>
            </a:avLst>
          </a:prstGeom>
          <a:solidFill>
            <a:schemeClr val="bg2"/>
          </a:solidFill>
          <a:ln/>
        </p:spPr>
      </p:sp>
      <p:sp>
        <p:nvSpPr>
          <p:cNvPr id="10" name="Text 8"/>
          <p:cNvSpPr txBox="1"/>
          <p:nvPr/>
        </p:nvSpPr>
        <p:spPr>
          <a:xfrm>
            <a:off x="8246533" y="1968500"/>
            <a:ext cx="2878667"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Next, in Moscow</a:t>
            </a:r>
            <a:endParaRPr lang="en-US" sz="2200" dirty="0"/>
          </a:p>
        </p:txBody>
      </p:sp>
      <p:sp>
        <p:nvSpPr>
          <p:cNvPr id="11" name="Text 9"/>
          <p:cNvSpPr txBox="1"/>
          <p:nvPr/>
        </p:nvSpPr>
        <p:spPr>
          <a:xfrm>
            <a:off x="8246533" y="2476500"/>
            <a:ext cx="2878667" cy="17780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First run on the flight computer</a:t>
            </a:r>
            <a:endParaRPr lang="en-US" sz="1500" dirty="0"/>
          </a:p>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Tune the sensor on a live snail</a:t>
            </a:r>
            <a:endParaRPr lang="en-US" sz="1500" dirty="0"/>
          </a:p>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Cold test of the whole box</a:t>
            </a:r>
            <a:endParaRPr lang="en-US" sz="1500" dirty="0"/>
          </a:p>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Fit into the CubeSat</a:t>
            </a:r>
            <a:endParaRPr lang="en-US" sz="1500" dirty="0"/>
          </a:p>
          <a:p>
            <a:pPr marL="177800" indent="-177800">
              <a:spcAft>
                <a:spcPts val="600"/>
              </a:spcAft>
              <a:buSzPct val="100000"/>
              <a:buChar char="•"/>
            </a:pPr>
            <a:r>
              <a:rPr lang="en-US" sz="1500" dirty="0">
                <a:solidFill>
                  <a:schemeClr val="accent3"/>
                </a:solidFill>
                <a:latin typeface="Arial" pitchFamily="34" charset="0"/>
                <a:ea typeface="Arial" pitchFamily="34" charset="-122"/>
                <a:cs typeface="Arial" pitchFamily="34" charset="-120"/>
              </a:rPr>
              <a:t>Launch, 31 October</a:t>
            </a:r>
            <a:endParaRPr lang="en-US" sz="1500" dirty="0"/>
          </a:p>
        </p:txBody>
      </p:sp>
      <p:sp>
        <p:nvSpPr>
          <p:cNvPr id="25" name="Slide Number Placeholder 0"/>
          <p:cNvSpPr>
            <a:spLocks noGrp="1"/>
          </p:cNvSpPr>
          <p:nvPr>
            <p:ph type="sldNum" sz="quarter" idx="4294967295"/>
          </p:nvPr>
        </p:nvSpPr>
        <p:spPr>
          <a:xfrm>
            <a:off x="10464800" y="6235700"/>
            <a:ext cx="9144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A7F8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Heartbeat trace" descr="A heartbeat trace">    </p:cNvPr>
          <p:cNvPicPr>
            <a:picLocks noChangeAspect="1"/>
          </p:cNvPicPr>
          <p:nvPr/>
        </p:nvPicPr>
        <p:blipFill>
          <a:blip r:embed="rId1"/>
          <a:stretch>
            <a:fillRect/>
          </a:stretch>
        </p:blipFill>
        <p:spPr>
          <a:xfrm>
            <a:off x="7112000" y="2095500"/>
            <a:ext cx="5080000" cy="1651000"/>
          </a:xfrm>
          <a:prstGeom prst="rect">
            <a:avLst/>
          </a:prstGeom>
        </p:spPr>
      </p:pic>
      <p:sp>
        <p:nvSpPr>
          <p:cNvPr id="3" name="Title"/>
          <p:cNvSpPr txBox="1"/>
          <p:nvPr/>
        </p:nvSpPr>
        <p:spPr>
          <a:xfrm>
            <a:off x="812800" y="2476500"/>
            <a:ext cx="6400800" cy="914400"/>
          </a:xfrm>
          <a:prstGeom prst="rect">
            <a:avLst/>
          </a:prstGeom>
          <a:noFill/>
          <a:ln/>
        </p:spPr>
        <p:txBody>
          <a:bodyPr wrap="square" lIns="0" tIns="0" rIns="0" bIns="0" rtlCol="0" anchor="t"/>
          <a:lstStyle/>
          <a:p>
            <a:pPr indent="0" marL="0">
              <a:buNone/>
            </a:pPr>
            <a:r>
              <a:rPr lang="en-US" sz="6000" b="1" dirty="0">
                <a:solidFill>
                  <a:srgbClr val="EDEAE3"/>
                </a:solidFill>
                <a:latin typeface="Arial" pitchFamily="34" charset="0"/>
                <a:ea typeface="Arial" pitchFamily="34" charset="-122"/>
                <a:cs typeface="Arial" pitchFamily="34" charset="-120"/>
              </a:rPr>
              <a:t>Thank you</a:t>
            </a:r>
            <a:endParaRPr lang="en-US" sz="6000" dirty="0"/>
          </a:p>
        </p:txBody>
      </p:sp>
      <p:sp>
        <p:nvSpPr>
          <p:cNvPr id="4" name="Text 1"/>
          <p:cNvSpPr txBox="1"/>
          <p:nvPr/>
        </p:nvSpPr>
        <p:spPr>
          <a:xfrm>
            <a:off x="812800" y="3429000"/>
            <a:ext cx="6400800" cy="548640"/>
          </a:xfrm>
          <a:prstGeom prst="rect">
            <a:avLst/>
          </a:prstGeom>
          <a:noFill/>
          <a:ln/>
        </p:spPr>
        <p:txBody>
          <a:bodyPr wrap="square" lIns="0" tIns="0" rIns="0" bIns="0" rtlCol="0" anchor="t"/>
          <a:lstStyle/>
          <a:p>
            <a:pPr indent="0" marL="0">
              <a:buNone/>
            </a:pPr>
            <a:r>
              <a:rPr lang="en-US" sz="2200" dirty="0">
                <a:solidFill>
                  <a:schemeClr val="accent4"/>
                </a:solidFill>
                <a:latin typeface="Arial" pitchFamily="34" charset="0"/>
                <a:ea typeface="Arial" pitchFamily="34" charset="-122"/>
                <a:cs typeface="Arial" pitchFamily="34" charset="-120"/>
              </a:rPr>
              <a:t>We’re happy to take your questions.</a:t>
            </a:r>
            <a:endParaRPr lang="en-US" sz="2200" dirty="0"/>
          </a:p>
        </p:txBody>
      </p:sp>
    </p:spTree>
  </p:cSld>
  <p:clrMapOvr>
    <a:masterClrMapping/>
  </p:clrMapOvr>
</p:sld>
</file>

<file path=ppt/theme/theme1.xml><?xml version="1.0" encoding="utf-8"?>
<a:theme xmlns:a="http://schemas.openxmlformats.org/drawingml/2006/main" name="SnailPulse">
  <a:themeElements>
    <a:clrScheme name="SnailPulse">
      <a:dk1>
        <a:srgbClr val="1A1D23"/>
      </a:dk1>
      <a:lt1>
        <a:srgbClr val="F4F1EA"/>
      </a:lt1>
      <a:dk2>
        <a:srgbClr val="161B24"/>
      </a:dk2>
      <a:lt2>
        <a:srgbClr val="EAE6DC"/>
      </a:lt2>
      <a:accent1>
        <a:srgbClr val="C8432B"/>
      </a:accent1>
      <a:accent2>
        <a:srgbClr val="F06A4F"/>
      </a:accent2>
      <a:accent3>
        <a:srgbClr val="4A4F59"/>
      </a:accent3>
      <a:accent4>
        <a:srgbClr val="A9AFBA"/>
      </a:accent4>
      <a:accent5>
        <a:srgbClr val="7A7F88"/>
      </a:accent5>
      <a:accent6>
        <a:srgbClr val="F3DDD5"/>
      </a:accent6>
      <a:hlink>
        <a:srgbClr val="A8361F"/>
      </a:hlink>
      <a:folHlink>
        <a:srgbClr val="7A7F88"/>
      </a:folHlink>
    </a:clrScheme>
    <a:fontScheme name="SnailPul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SnailPulse — Orbita 2026</dc:title>
  <dc:subject>PptxGenJS Presentation</dc:subject>
  <dc:creator>Team Uzbekistan</dc:creator>
  <cp:lastModifiedBy>Team Uzbekistan</cp:lastModifiedBy>
  <cp:revision>1</cp:revision>
  <dcterms:created xsi:type="dcterms:W3CDTF">2026-10-24T14:09:36Z</dcterms:created>
  <dcterms:modified xsi:type="dcterms:W3CDTF">2026-10-24T14:09:36Z</dcterms:modified>
</cp:coreProperties>
</file>